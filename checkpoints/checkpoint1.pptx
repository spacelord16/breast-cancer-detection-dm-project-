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07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3"/>
    <p:restoredTop sz="94634"/>
  </p:normalViewPr>
  <p:slideViewPr>
    <p:cSldViewPr snapToGrid="0">
      <p:cViewPr varScale="1">
        <p:scale>
          <a:sx n="166" d="100"/>
          <a:sy n="166" d="100"/>
        </p:scale>
        <p:origin x="19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984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639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646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275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720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586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039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006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319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32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738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425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17" r:id="rId2"/>
    <p:sldLayoutId id="2147484016" r:id="rId3"/>
    <p:sldLayoutId id="2147484015" r:id="rId4"/>
    <p:sldLayoutId id="2147484014" r:id="rId5"/>
    <p:sldLayoutId id="2147484013" r:id="rId6"/>
    <p:sldLayoutId id="2147484012" r:id="rId7"/>
    <p:sldLayoutId id="2147484011" r:id="rId8"/>
    <p:sldLayoutId id="2147484010" r:id="rId9"/>
    <p:sldLayoutId id="2147484009" r:id="rId10"/>
    <p:sldLayoutId id="2147484008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8BEC44CD-E290-4D60-A056-5BA05B18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" name="Picture 25" descr="A web of dots connected">
            <a:extLst>
              <a:ext uri="{FF2B5EF4-FFF2-40B4-BE49-F238E27FC236}">
                <a16:creationId xmlns:a16="http://schemas.microsoft.com/office/drawing/2014/main" id="{187FC098-1F02-1517-7981-0FF203905E6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20444"/>
          <a:stretch>
            <a:fillRect/>
          </a:stretch>
        </p:blipFill>
        <p:spPr>
          <a:xfrm>
            <a:off x="0" y="92204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4AC610-7741-6FB9-00DA-81179D47D4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2" cy="2450592"/>
          </a:xfrm>
        </p:spPr>
        <p:txBody>
          <a:bodyPr anchor="t">
            <a:normAutofit fontScale="90000"/>
          </a:bodyPr>
          <a:lstStyle/>
          <a:p>
            <a:r>
              <a:rPr lang="en-US" sz="6000" dirty="0"/>
              <a:t>Breast Cancer Diagnosis Using Machine Learning</a:t>
            </a:r>
            <a:endParaRPr lang="en-US" sz="60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251DD6-77C5-A96C-6896-DAD9C937C6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52366" y="3265330"/>
            <a:ext cx="5040785" cy="2581288"/>
          </a:xfrm>
        </p:spPr>
        <p:txBody>
          <a:bodyPr anchor="b">
            <a:no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CSE 572 – Prof. Yanjie Fu</a:t>
            </a:r>
          </a:p>
          <a:p>
            <a:endParaRPr lang="en-US" sz="4000" dirty="0">
              <a:solidFill>
                <a:srgbClr val="FFFFFF"/>
              </a:solidFill>
            </a:endParaRPr>
          </a:p>
          <a:p>
            <a:r>
              <a:rPr lang="en-US" sz="4000" dirty="0">
                <a:solidFill>
                  <a:srgbClr val="FFFFFF"/>
                </a:solidFill>
              </a:rPr>
              <a:t>Aditya Deshpande</a:t>
            </a:r>
          </a:p>
          <a:p>
            <a:r>
              <a:rPr lang="en-US" sz="4000" dirty="0">
                <a:solidFill>
                  <a:srgbClr val="FFFFFF"/>
                </a:solidFill>
              </a:rPr>
              <a:t>Amit Ashok Manjarly</a:t>
            </a:r>
          </a:p>
          <a:p>
            <a:r>
              <a:rPr lang="en-US" sz="4000" dirty="0">
                <a:solidFill>
                  <a:srgbClr val="FFFFFF"/>
                </a:solidFill>
              </a:rPr>
              <a:t>(Checkpoint 1)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0945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9398F7-3AFA-3FCC-8CC3-994A9C805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210A403B-9BA0-778B-4E52-B17B8E860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" name="Picture 25" descr="A web of dots connected">
            <a:extLst>
              <a:ext uri="{FF2B5EF4-FFF2-40B4-BE49-F238E27FC236}">
                <a16:creationId xmlns:a16="http://schemas.microsoft.com/office/drawing/2014/main" id="{2DADB4E8-2D12-7A0A-DE18-F6B07C45D77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20444"/>
          <a:stretch>
            <a:fillRect/>
          </a:stretch>
        </p:blipFill>
        <p:spPr>
          <a:xfrm>
            <a:off x="-2" y="-4"/>
            <a:ext cx="12192001" cy="685800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5C3AB95-1548-372F-436C-8B10B4D0B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958BBB-4621-2FCB-7FD1-B827EDF5AF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D9943D8-84CE-F05A-3D74-4568067F5D26}"/>
              </a:ext>
            </a:extLst>
          </p:cNvPr>
          <p:cNvSpPr/>
          <p:nvPr/>
        </p:nvSpPr>
        <p:spPr>
          <a:xfrm>
            <a:off x="604601" y="1992567"/>
            <a:ext cx="3250369" cy="110984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Introduction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BB91BAE-EB87-AA71-DCA9-3697F3FFAA71}"/>
              </a:ext>
            </a:extLst>
          </p:cNvPr>
          <p:cNvSpPr/>
          <p:nvPr/>
        </p:nvSpPr>
        <p:spPr>
          <a:xfrm>
            <a:off x="517870" y="1165461"/>
            <a:ext cx="929390" cy="92939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01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E15B47C-0FEB-EFA7-9F3F-C9F332B494F8}"/>
              </a:ext>
            </a:extLst>
          </p:cNvPr>
          <p:cNvSpPr/>
          <p:nvPr/>
        </p:nvSpPr>
        <p:spPr>
          <a:xfrm>
            <a:off x="4724397" y="1992567"/>
            <a:ext cx="3250370" cy="110984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Exploratory Data Analysis(EDA)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F467C99-DD3E-1BA4-64E9-527C0111A63E}"/>
              </a:ext>
            </a:extLst>
          </p:cNvPr>
          <p:cNvSpPr/>
          <p:nvPr/>
        </p:nvSpPr>
        <p:spPr>
          <a:xfrm>
            <a:off x="4709467" y="1165461"/>
            <a:ext cx="929390" cy="92939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03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FFAC86F2-F4E4-A4AF-E614-C0E51F9B039C}"/>
              </a:ext>
            </a:extLst>
          </p:cNvPr>
          <p:cNvSpPr/>
          <p:nvPr/>
        </p:nvSpPr>
        <p:spPr>
          <a:xfrm>
            <a:off x="8901065" y="1992567"/>
            <a:ext cx="3250370" cy="110984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Model 1: Logistic Regression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B0F1A67-8C1F-9945-5D61-89E53E998350}"/>
              </a:ext>
            </a:extLst>
          </p:cNvPr>
          <p:cNvSpPr/>
          <p:nvPr/>
        </p:nvSpPr>
        <p:spPr>
          <a:xfrm>
            <a:off x="9056530" y="1165461"/>
            <a:ext cx="929390" cy="92939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05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F1443B07-4784-B386-5692-1BC98C6D4CC6}"/>
              </a:ext>
            </a:extLst>
          </p:cNvPr>
          <p:cNvSpPr/>
          <p:nvPr/>
        </p:nvSpPr>
        <p:spPr>
          <a:xfrm>
            <a:off x="604601" y="4352824"/>
            <a:ext cx="3250369" cy="110984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Dataset Overview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7C8A6BF3-6728-829B-3915-F0D5DDDBA879}"/>
              </a:ext>
            </a:extLst>
          </p:cNvPr>
          <p:cNvSpPr/>
          <p:nvPr/>
        </p:nvSpPr>
        <p:spPr>
          <a:xfrm>
            <a:off x="4719346" y="4352824"/>
            <a:ext cx="3250369" cy="110984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Data Preprocessing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C2CCCE5-E3D7-D313-73A1-CCE47A995B48}"/>
              </a:ext>
            </a:extLst>
          </p:cNvPr>
          <p:cNvSpPr/>
          <p:nvPr/>
        </p:nvSpPr>
        <p:spPr>
          <a:xfrm>
            <a:off x="8867577" y="4352824"/>
            <a:ext cx="3250369" cy="110984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/>
              <a:t>Model 2: k-Nearest Neighbors (KNN)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D147CD6-228D-CAFB-994C-48A4D8751CAD}"/>
              </a:ext>
            </a:extLst>
          </p:cNvPr>
          <p:cNvSpPr/>
          <p:nvPr/>
        </p:nvSpPr>
        <p:spPr>
          <a:xfrm>
            <a:off x="604600" y="3622725"/>
            <a:ext cx="929390" cy="92939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02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54F423F-241A-9326-B2C4-5DEEE6F3CA92}"/>
              </a:ext>
            </a:extLst>
          </p:cNvPr>
          <p:cNvSpPr/>
          <p:nvPr/>
        </p:nvSpPr>
        <p:spPr>
          <a:xfrm>
            <a:off x="4752832" y="3622725"/>
            <a:ext cx="929390" cy="92939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04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AC12D53-8FDD-86C8-FC3B-9BF9CB5F8CA2}"/>
              </a:ext>
            </a:extLst>
          </p:cNvPr>
          <p:cNvSpPr/>
          <p:nvPr/>
        </p:nvSpPr>
        <p:spPr>
          <a:xfrm>
            <a:off x="9056530" y="3653299"/>
            <a:ext cx="929390" cy="92939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608570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564E0E-F32B-7EF2-DAD3-BCD6989FD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3A96F740-89AC-2262-6623-F8F1EC78F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" name="Picture 25" descr="A web of dots connected">
            <a:extLst>
              <a:ext uri="{FF2B5EF4-FFF2-40B4-BE49-F238E27FC236}">
                <a16:creationId xmlns:a16="http://schemas.microsoft.com/office/drawing/2014/main" id="{9848143C-21E3-EBAD-0B84-D81C8931E0A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20444"/>
          <a:stretch>
            <a:fillRect/>
          </a:stretch>
        </p:blipFill>
        <p:spPr>
          <a:xfrm>
            <a:off x="-2" y="-4"/>
            <a:ext cx="12191999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D4EF1FB-93F8-5384-9837-E9D74A121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6ABA65-1051-C140-D6D8-DEDD361B0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6B5569-0E8F-950B-22F1-FA2F1C9B7C29}"/>
              </a:ext>
            </a:extLst>
          </p:cNvPr>
          <p:cNvSpPr txBox="1"/>
          <p:nvPr/>
        </p:nvSpPr>
        <p:spPr>
          <a:xfrm>
            <a:off x="517870" y="2247743"/>
            <a:ext cx="9843400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800" dirty="0"/>
              <a:t>OBJECTIVE:</a:t>
            </a:r>
          </a:p>
          <a:p>
            <a:r>
              <a:rPr lang="en-US" sz="3000" dirty="0"/>
              <a:t>To build and evaluate machine learning models capable of</a:t>
            </a:r>
          </a:p>
          <a:p>
            <a:r>
              <a:rPr lang="en-US" sz="3000" dirty="0"/>
              <a:t>accurately diagnosing breast cancer tumors as either</a:t>
            </a:r>
          </a:p>
          <a:p>
            <a:r>
              <a:rPr lang="en-US" sz="3000" dirty="0"/>
              <a:t>malignant or benign based on cellular characteristics.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4E1BA6-AAF3-C470-AD66-E3C4C5259F6A}"/>
              </a:ext>
            </a:extLst>
          </p:cNvPr>
          <p:cNvSpPr txBox="1"/>
          <p:nvPr/>
        </p:nvSpPr>
        <p:spPr>
          <a:xfrm>
            <a:off x="517870" y="5038186"/>
            <a:ext cx="11695959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800" dirty="0"/>
              <a:t>DATASET:</a:t>
            </a:r>
          </a:p>
          <a:p>
            <a:r>
              <a:rPr lang="en-US" sz="3000" dirty="0"/>
              <a:t>We will use the Wisconsin Diagnostic Breast Cancer (WDBC) dataset.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321CA9C-8E22-16AB-085F-8FB0FD6E8707}"/>
              </a:ext>
            </a:extLst>
          </p:cNvPr>
          <p:cNvSpPr/>
          <p:nvPr/>
        </p:nvSpPr>
        <p:spPr>
          <a:xfrm>
            <a:off x="517870" y="830785"/>
            <a:ext cx="5021183" cy="110984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01.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622385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53BEAC-6604-FEFF-A374-B8A250FFA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CBC31215-04F4-5A23-A551-40A29B18AA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" name="Picture 25" descr="A web of dots connected">
            <a:extLst>
              <a:ext uri="{FF2B5EF4-FFF2-40B4-BE49-F238E27FC236}">
                <a16:creationId xmlns:a16="http://schemas.microsoft.com/office/drawing/2014/main" id="{19B00C60-9DBC-95B0-B0AB-528F5566232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20444"/>
          <a:stretch>
            <a:fillRect/>
          </a:stretch>
        </p:blipFill>
        <p:spPr>
          <a:xfrm>
            <a:off x="-2" y="-4"/>
            <a:ext cx="12191999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E108FA0-BBA3-3FA8-73F1-2872A2B64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0B1001E-39A0-FDC6-6279-EB8337BDFE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4A7B52-EF11-8881-7DAD-08112305CF07}"/>
              </a:ext>
            </a:extLst>
          </p:cNvPr>
          <p:cNvSpPr txBox="1"/>
          <p:nvPr/>
        </p:nvSpPr>
        <p:spPr>
          <a:xfrm>
            <a:off x="517870" y="811518"/>
            <a:ext cx="301787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APPROACH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405463-2DAF-D1CD-AFE3-AEB826D82187}"/>
              </a:ext>
            </a:extLst>
          </p:cNvPr>
          <p:cNvSpPr txBox="1"/>
          <p:nvPr/>
        </p:nvSpPr>
        <p:spPr>
          <a:xfrm>
            <a:off x="1243411" y="2090168"/>
            <a:ext cx="1043994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Perform Exploratory Data Analysis (EDA) to understand the data.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Preprocess the data to prepare it for modeling.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Train two initial models: Logistic Regression and k-Nearest Neighbors (</a:t>
            </a:r>
            <a:r>
              <a:rPr lang="en-US" sz="2800" dirty="0" err="1"/>
              <a:t>kNN</a:t>
            </a:r>
            <a:r>
              <a:rPr lang="en-US" sz="2800" dirty="0"/>
              <a:t>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Evaluate and compare their performance.</a:t>
            </a:r>
          </a:p>
        </p:txBody>
      </p:sp>
    </p:spTree>
    <p:extLst>
      <p:ext uri="{BB962C8B-B14F-4D97-AF65-F5344CB8AC3E}">
        <p14:creationId xmlns:p14="http://schemas.microsoft.com/office/powerpoint/2010/main" val="38101578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6732D2-CDB7-442C-7091-12406BE43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2EE94D18-CE07-3E58-D541-C840C996F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" name="Picture 25" descr="A web of dots connected">
            <a:extLst>
              <a:ext uri="{FF2B5EF4-FFF2-40B4-BE49-F238E27FC236}">
                <a16:creationId xmlns:a16="http://schemas.microsoft.com/office/drawing/2014/main" id="{1E6E1616-0607-7737-52D1-2A94319E359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20444"/>
          <a:stretch>
            <a:fillRect/>
          </a:stretch>
        </p:blipFill>
        <p:spPr>
          <a:xfrm>
            <a:off x="-2" y="-4"/>
            <a:ext cx="12191999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7A85A09-C614-564E-ABFA-6A630D6D3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945907-79B2-1268-B805-A130E35E5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572BE9-8413-1867-2FEB-5671DDC49A05}"/>
              </a:ext>
            </a:extLst>
          </p:cNvPr>
          <p:cNvSpPr txBox="1"/>
          <p:nvPr/>
        </p:nvSpPr>
        <p:spPr>
          <a:xfrm>
            <a:off x="517870" y="1942360"/>
            <a:ext cx="1135434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Source:</a:t>
            </a:r>
            <a:r>
              <a:rPr lang="en-US" sz="2200" dirty="0"/>
              <a:t> University of Wisconsin Hospitals, created by Dr. William H. Wolberg, W. Nick Street, and </a:t>
            </a:r>
            <a:r>
              <a:rPr lang="en-US" sz="2200" dirty="0" err="1"/>
              <a:t>Olvi</a:t>
            </a:r>
            <a:r>
              <a:rPr lang="en-US" sz="2200" dirty="0"/>
              <a:t> L. Mangasarian.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Content:</a:t>
            </a:r>
            <a:r>
              <a:rPr lang="en-US" sz="2200" dirty="0"/>
              <a:t> Features are computed from digitized images of a fine needle aspirate (FNA) of a breast mass, describing the characteristics of the cell nuclei.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Instances:</a:t>
            </a:r>
            <a:r>
              <a:rPr lang="en-US" sz="2200" dirty="0"/>
              <a:t> 569 total samples.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Class Distribution:</a:t>
            </a:r>
            <a:r>
              <a:rPr lang="en-US" sz="2200" dirty="0"/>
              <a:t> 357 Benign (B) and 212 Malignant (M) cases.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Features: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/>
              <a:t>Each sample has 30 real-valued features.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/>
              <a:t>These are the mean, standard error, and "worst" value for 10 core measurements (e.g., radius, texture, smoothness).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EACE890-9961-C75B-1AE6-2A50F71587FB}"/>
              </a:ext>
            </a:extLst>
          </p:cNvPr>
          <p:cNvSpPr/>
          <p:nvPr/>
        </p:nvSpPr>
        <p:spPr>
          <a:xfrm>
            <a:off x="517869" y="775415"/>
            <a:ext cx="5021183" cy="103839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02. Dataset Overview</a:t>
            </a:r>
          </a:p>
        </p:txBody>
      </p:sp>
    </p:spTree>
    <p:extLst>
      <p:ext uri="{BB962C8B-B14F-4D97-AF65-F5344CB8AC3E}">
        <p14:creationId xmlns:p14="http://schemas.microsoft.com/office/powerpoint/2010/main" val="3317457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43003E-98E7-9FA5-FEB2-8F56D5B7A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93CACB26-010F-6FC2-32AD-B931F833F0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" name="Picture 25" descr="A web of dots connected">
            <a:extLst>
              <a:ext uri="{FF2B5EF4-FFF2-40B4-BE49-F238E27FC236}">
                <a16:creationId xmlns:a16="http://schemas.microsoft.com/office/drawing/2014/main" id="{5760FC81-2798-2540-707C-025941E9847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20444"/>
          <a:stretch>
            <a:fillRect/>
          </a:stretch>
        </p:blipFill>
        <p:spPr>
          <a:xfrm>
            <a:off x="-2" y="14986"/>
            <a:ext cx="12191999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1A436A3-4A4B-40FD-2867-12FEE018D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091377F-5A8C-06C1-57AC-EB99E8344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0E62D6B-70F9-D06A-79A8-3739B7D35E4E}"/>
              </a:ext>
            </a:extLst>
          </p:cNvPr>
          <p:cNvSpPr/>
          <p:nvPr/>
        </p:nvSpPr>
        <p:spPr>
          <a:xfrm>
            <a:off x="1526494" y="2647834"/>
            <a:ext cx="9139006" cy="110984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03. EXPLORATORY DATA ANALYSIS</a:t>
            </a:r>
          </a:p>
        </p:txBody>
      </p:sp>
    </p:spTree>
    <p:extLst>
      <p:ext uri="{BB962C8B-B14F-4D97-AF65-F5344CB8AC3E}">
        <p14:creationId xmlns:p14="http://schemas.microsoft.com/office/powerpoint/2010/main" val="4870681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FC6F14-A872-3242-BF62-DE426B0E3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F8B2BFA0-0E04-FB28-DA59-BCA2DD2EB0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" name="Picture 25" descr="A web of dots connected">
            <a:extLst>
              <a:ext uri="{FF2B5EF4-FFF2-40B4-BE49-F238E27FC236}">
                <a16:creationId xmlns:a16="http://schemas.microsoft.com/office/drawing/2014/main" id="{46372A32-DE42-C555-FF68-AF44415CF38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20444"/>
          <a:stretch>
            <a:fillRect/>
          </a:stretch>
        </p:blipFill>
        <p:spPr>
          <a:xfrm>
            <a:off x="-2" y="-4"/>
            <a:ext cx="12191999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BC1BCA6-700A-C249-782F-F3D4A5B7C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58B4EA-3505-9F2E-9029-13A699E51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6AAFC5-8096-85B4-2324-C8FB94E535FB}"/>
              </a:ext>
            </a:extLst>
          </p:cNvPr>
          <p:cNvSpPr txBox="1"/>
          <p:nvPr/>
        </p:nvSpPr>
        <p:spPr>
          <a:xfrm>
            <a:off x="517870" y="780740"/>
            <a:ext cx="551375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CLASS DISTRIBUTION</a:t>
            </a:r>
          </a:p>
        </p:txBody>
      </p:sp>
      <p:pic>
        <p:nvPicPr>
          <p:cNvPr id="3" name="Picture 2" descr="Distribution of Diagnosis(M = Malignant, B = benign)">
            <a:extLst>
              <a:ext uri="{FF2B5EF4-FFF2-40B4-BE49-F238E27FC236}">
                <a16:creationId xmlns:a16="http://schemas.microsoft.com/office/drawing/2014/main" id="{C073CF8D-B947-3DAB-559A-9D2FF6E861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870" y="2119808"/>
            <a:ext cx="5279017" cy="384627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A0168B0-1674-503C-27DA-47427A40FB5F}"/>
              </a:ext>
            </a:extLst>
          </p:cNvPr>
          <p:cNvSpPr txBox="1"/>
          <p:nvPr/>
        </p:nvSpPr>
        <p:spPr>
          <a:xfrm>
            <a:off x="517870" y="1517456"/>
            <a:ext cx="68980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How many samples of each diagnosis do we have?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D3360C-5B4A-AB90-133D-02A3E33F664F}"/>
              </a:ext>
            </a:extLst>
          </p:cNvPr>
          <p:cNvSpPr txBox="1"/>
          <p:nvPr/>
        </p:nvSpPr>
        <p:spPr>
          <a:xfrm>
            <a:off x="6880485" y="2211249"/>
            <a:ext cx="480286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1" dirty="0"/>
              <a:t>Key Insight:</a:t>
            </a:r>
            <a:r>
              <a:rPr lang="en-US" sz="3200" dirty="0"/>
              <a:t> The dataset is somewhat imbalanced, with more benign samples (357) than malignant ones (212). This is important to consider during model evaluation.</a:t>
            </a:r>
          </a:p>
        </p:txBody>
      </p:sp>
    </p:spTree>
    <p:extLst>
      <p:ext uri="{BB962C8B-B14F-4D97-AF65-F5344CB8AC3E}">
        <p14:creationId xmlns:p14="http://schemas.microsoft.com/office/powerpoint/2010/main" val="5630847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28A4E1-1D86-0110-4F50-4DF585EA8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B17986C2-D67E-121B-EFEB-D0FB2EB0DE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" name="Picture 25" descr="A web of dots connected">
            <a:extLst>
              <a:ext uri="{FF2B5EF4-FFF2-40B4-BE49-F238E27FC236}">
                <a16:creationId xmlns:a16="http://schemas.microsoft.com/office/drawing/2014/main" id="{ECD34CF8-5C21-6F6A-61B5-F1EB4A7E46E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20444"/>
          <a:stretch>
            <a:fillRect/>
          </a:stretch>
        </p:blipFill>
        <p:spPr>
          <a:xfrm>
            <a:off x="-2" y="-4"/>
            <a:ext cx="12191999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D9C6B6C-3061-9E51-29D8-3A59D90278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4C0E226-5511-7D09-69DA-B5678DF9E0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D7EE18-7485-B35B-0FA6-546FDBE5E7D6}"/>
              </a:ext>
            </a:extLst>
          </p:cNvPr>
          <p:cNvSpPr txBox="1"/>
          <p:nvPr/>
        </p:nvSpPr>
        <p:spPr>
          <a:xfrm>
            <a:off x="517870" y="780740"/>
            <a:ext cx="608961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FEATURE DISTRIBUTION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641231-5942-EBDD-116C-7A38A490883D}"/>
              </a:ext>
            </a:extLst>
          </p:cNvPr>
          <p:cNvSpPr txBox="1"/>
          <p:nvPr/>
        </p:nvSpPr>
        <p:spPr>
          <a:xfrm>
            <a:off x="517870" y="1517456"/>
            <a:ext cx="895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How do key features differ between Malignant and Benign tumors?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C23E5C-F019-509D-12CB-CF00B9BB8753}"/>
              </a:ext>
            </a:extLst>
          </p:cNvPr>
          <p:cNvSpPr txBox="1"/>
          <p:nvPr/>
        </p:nvSpPr>
        <p:spPr>
          <a:xfrm>
            <a:off x="517870" y="2262466"/>
            <a:ext cx="480286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100" dirty="0"/>
              <a:t>Key Insights: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100" b="1" dirty="0"/>
              <a:t>Radius Mean:</a:t>
            </a:r>
            <a:r>
              <a:rPr lang="en-US" sz="2100" dirty="0"/>
              <a:t> Malignant tumors (M) generally have a larger mean radius than benign tumors (B).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100" b="1" dirty="0"/>
              <a:t>Texture Mean:</a:t>
            </a:r>
            <a:r>
              <a:rPr lang="en-US" sz="2100" dirty="0"/>
              <a:t> There is a significant overlap, but malignant tumors tend to have a wider and slightly higher texture mean.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100" b="1" dirty="0"/>
              <a:t>Smoothness Mean:</a:t>
            </a:r>
            <a:r>
              <a:rPr lang="en-US" sz="2100" dirty="0"/>
              <a:t> The distributions overlap considerably, suggesting smoothness alone may not be a strong predictor.</a:t>
            </a:r>
          </a:p>
        </p:txBody>
      </p:sp>
      <p:pic>
        <p:nvPicPr>
          <p:cNvPr id="12" name="Picture 11" descr="Feature information">
            <a:extLst>
              <a:ext uri="{FF2B5EF4-FFF2-40B4-BE49-F238E27FC236}">
                <a16:creationId xmlns:a16="http://schemas.microsoft.com/office/drawing/2014/main" id="{41FF397E-1B2D-D9D9-94F7-7FF4FBA1E1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3746" y="2983660"/>
            <a:ext cx="6585240" cy="2181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658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1A7E87-8D54-B66B-D4E1-6B87F4E7A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40B1D7ED-5F2E-B54A-382E-F87422072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" name="Picture 25" descr="A web of dots connected">
            <a:extLst>
              <a:ext uri="{FF2B5EF4-FFF2-40B4-BE49-F238E27FC236}">
                <a16:creationId xmlns:a16="http://schemas.microsoft.com/office/drawing/2014/main" id="{2A9FDB66-D126-DA68-5C0C-D705FC461CE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20444"/>
          <a:stretch>
            <a:fillRect/>
          </a:stretch>
        </p:blipFill>
        <p:spPr>
          <a:xfrm>
            <a:off x="-2" y="-4"/>
            <a:ext cx="12191999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C4A2938-BB02-0786-A5C4-29CC03627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702183-D492-0764-BD40-4B67EB7AA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C14D72-BB7D-E2B1-8037-CFCCA3B3FD6F}"/>
              </a:ext>
            </a:extLst>
          </p:cNvPr>
          <p:cNvSpPr txBox="1"/>
          <p:nvPr/>
        </p:nvSpPr>
        <p:spPr>
          <a:xfrm>
            <a:off x="517870" y="780740"/>
            <a:ext cx="576010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CORRELATION MATRIX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21131D-CB14-F120-5663-8DE54B96498E}"/>
              </a:ext>
            </a:extLst>
          </p:cNvPr>
          <p:cNvSpPr txBox="1"/>
          <p:nvPr/>
        </p:nvSpPr>
        <p:spPr>
          <a:xfrm>
            <a:off x="517870" y="1517456"/>
            <a:ext cx="59358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How are the features related to each other?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22836C-9D7C-C09B-3E1F-6F8AC4298245}"/>
              </a:ext>
            </a:extLst>
          </p:cNvPr>
          <p:cNvSpPr txBox="1"/>
          <p:nvPr/>
        </p:nvSpPr>
        <p:spPr>
          <a:xfrm>
            <a:off x="6771326" y="1995364"/>
            <a:ext cx="4802866" cy="4108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100" dirty="0"/>
              <a:t>Key Insights: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Many features are highly correlated (e.g., </a:t>
            </a:r>
            <a:r>
              <a:rPr lang="en-US" dirty="0" err="1"/>
              <a:t>radius_mean</a:t>
            </a:r>
            <a:r>
              <a:rPr lang="en-US" sz="2400" dirty="0"/>
              <a:t>, </a:t>
            </a:r>
            <a:r>
              <a:rPr lang="en-US" dirty="0" err="1"/>
              <a:t>perimeter_mean</a:t>
            </a:r>
            <a:r>
              <a:rPr lang="en-US" sz="2400" dirty="0"/>
              <a:t>, and </a:t>
            </a:r>
            <a:r>
              <a:rPr lang="en-US" dirty="0" err="1"/>
              <a:t>area_mean</a:t>
            </a:r>
            <a:r>
              <a:rPr lang="en-US" sz="2400" dirty="0"/>
              <a:t>), which is expected.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This strong multicollinearity suggests that dimensionality reduction techniques (like PCA) or models robust to it (like tree-based models) could be beneficial later on.</a:t>
            </a:r>
            <a:endParaRPr lang="en-US" sz="2100" dirty="0"/>
          </a:p>
        </p:txBody>
      </p:sp>
      <p:pic>
        <p:nvPicPr>
          <p:cNvPr id="3" name="Picture 2" descr="Heatmap of correlation matrix">
            <a:extLst>
              <a:ext uri="{FF2B5EF4-FFF2-40B4-BE49-F238E27FC236}">
                <a16:creationId xmlns:a16="http://schemas.microsoft.com/office/drawing/2014/main" id="{B2B52CB3-BF73-22DF-92F9-A0462F7A40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871" y="2094438"/>
            <a:ext cx="3864268" cy="3790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522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386671-887C-96CA-5E5A-197E65CFA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8BEB6820-05D9-9E9E-0DB9-894E56253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" name="Picture 25" descr="A web of dots connected">
            <a:extLst>
              <a:ext uri="{FF2B5EF4-FFF2-40B4-BE49-F238E27FC236}">
                <a16:creationId xmlns:a16="http://schemas.microsoft.com/office/drawing/2014/main" id="{2151C5A3-B36E-A1A4-894E-97A43B23C47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20444"/>
          <a:stretch>
            <a:fillRect/>
          </a:stretch>
        </p:blipFill>
        <p:spPr>
          <a:xfrm>
            <a:off x="-2" y="-4"/>
            <a:ext cx="12191999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66FB05A-3271-5047-88DA-5E1E02D5B9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DC8D02-1807-0307-9D5F-EE32DF282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F705C63-E56D-8E9F-E16B-3D37776ACEF3}"/>
              </a:ext>
            </a:extLst>
          </p:cNvPr>
          <p:cNvSpPr/>
          <p:nvPr/>
        </p:nvSpPr>
        <p:spPr>
          <a:xfrm>
            <a:off x="1534454" y="2615136"/>
            <a:ext cx="9123086" cy="162771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0" dirty="0"/>
              <a:t>04. Data Preprocessing</a:t>
            </a:r>
          </a:p>
        </p:txBody>
      </p:sp>
    </p:spTree>
    <p:extLst>
      <p:ext uri="{BB962C8B-B14F-4D97-AF65-F5344CB8AC3E}">
        <p14:creationId xmlns:p14="http://schemas.microsoft.com/office/powerpoint/2010/main" val="16408043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8B44DB-4A14-A1B8-51E0-A744F57C7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42BD2247-1043-D381-7DD4-3CF60A12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" name="Picture 25" descr="A web of dots connected">
            <a:extLst>
              <a:ext uri="{FF2B5EF4-FFF2-40B4-BE49-F238E27FC236}">
                <a16:creationId xmlns:a16="http://schemas.microsoft.com/office/drawing/2014/main" id="{41B09AAC-A2D4-A3C6-6CB6-FC8CB0534AB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20444"/>
          <a:stretch>
            <a:fillRect/>
          </a:stretch>
        </p:blipFill>
        <p:spPr>
          <a:xfrm>
            <a:off x="-2" y="-4"/>
            <a:ext cx="12191999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7235A4D-B618-5655-EEBE-E876906A3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0AF3F9-8178-FD33-BE3F-38E75A4A3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D6274C15-6CF1-46FB-79E8-9D9A068D3E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7553" y="657369"/>
            <a:ext cx="4770611" cy="523696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1466212-2BD1-83A4-03B8-AEC1B31746BD}"/>
              </a:ext>
            </a:extLst>
          </p:cNvPr>
          <p:cNvSpPr txBox="1"/>
          <p:nvPr/>
        </p:nvSpPr>
        <p:spPr>
          <a:xfrm>
            <a:off x="740456" y="1843946"/>
            <a:ext cx="537326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1" dirty="0"/>
              <a:t>1. Cleaning:</a:t>
            </a:r>
            <a:r>
              <a:rPr lang="en-US" sz="5000" dirty="0"/>
              <a:t> Removed the non-predictive id column.</a:t>
            </a:r>
          </a:p>
        </p:txBody>
      </p:sp>
    </p:spTree>
    <p:extLst>
      <p:ext uri="{BB962C8B-B14F-4D97-AF65-F5344CB8AC3E}">
        <p14:creationId xmlns:p14="http://schemas.microsoft.com/office/powerpoint/2010/main" val="42805416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F647C0-67BF-EC85-E4A0-733FA5BAE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4D77F8F7-AE62-BF97-9286-F37C11C917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" name="Picture 25" descr="A web of dots connected">
            <a:extLst>
              <a:ext uri="{FF2B5EF4-FFF2-40B4-BE49-F238E27FC236}">
                <a16:creationId xmlns:a16="http://schemas.microsoft.com/office/drawing/2014/main" id="{E017CD9A-F1EC-AED1-1C1A-593728FEAA8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20444"/>
          <a:stretch>
            <a:fillRect/>
          </a:stretch>
        </p:blipFill>
        <p:spPr>
          <a:xfrm>
            <a:off x="-2" y="-14994"/>
            <a:ext cx="12191999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107FD34-0A65-204D-F613-1A5CF43E4F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55B731F-465A-6260-DD06-46BFEE107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D51CCD-3267-9A45-40A0-7704CF7410D9}"/>
              </a:ext>
            </a:extLst>
          </p:cNvPr>
          <p:cNvSpPr txBox="1"/>
          <p:nvPr/>
        </p:nvSpPr>
        <p:spPr>
          <a:xfrm>
            <a:off x="6486127" y="1458209"/>
            <a:ext cx="537326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2. Encoding:</a:t>
            </a:r>
            <a:r>
              <a:rPr lang="en-US" sz="4000" dirty="0"/>
              <a:t> Converted the categorical diagnosis column ('M'/'B') into numerical values (1/0) using </a:t>
            </a:r>
            <a:r>
              <a:rPr lang="en-US" sz="4000" dirty="0" err="1"/>
              <a:t>LabelEncoder</a:t>
            </a:r>
            <a:r>
              <a:rPr lang="en-US" sz="4000" dirty="0"/>
              <a:t>.</a:t>
            </a:r>
          </a:p>
        </p:txBody>
      </p:sp>
      <p:pic>
        <p:nvPicPr>
          <p:cNvPr id="4" name="Picture 3" descr="Datahead after encoding">
            <a:extLst>
              <a:ext uri="{FF2B5EF4-FFF2-40B4-BE49-F238E27FC236}">
                <a16:creationId xmlns:a16="http://schemas.microsoft.com/office/drawing/2014/main" id="{486157E1-5797-2282-7AC4-40B47C49C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77" y="884657"/>
            <a:ext cx="4906576" cy="567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0749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72C0FC-ECEB-7F4A-9042-BC3BF3888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2DB88F5B-C371-482A-CE6E-15B59B980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" name="Picture 25" descr="A web of dots connected">
            <a:extLst>
              <a:ext uri="{FF2B5EF4-FFF2-40B4-BE49-F238E27FC236}">
                <a16:creationId xmlns:a16="http://schemas.microsoft.com/office/drawing/2014/main" id="{99A5F335-9BF4-E35C-7411-871E68E8B0E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20444"/>
          <a:stretch>
            <a:fillRect/>
          </a:stretch>
        </p:blipFill>
        <p:spPr>
          <a:xfrm>
            <a:off x="-2" y="-14994"/>
            <a:ext cx="12191999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F4FACCD-928C-B396-8809-667B55B95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6D14FC6-BEE9-847F-D0A8-72E35F02F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0A6FB5-6799-0395-400B-1BE73B0E524D}"/>
              </a:ext>
            </a:extLst>
          </p:cNvPr>
          <p:cNvSpPr txBox="1"/>
          <p:nvPr/>
        </p:nvSpPr>
        <p:spPr>
          <a:xfrm>
            <a:off x="722733" y="1333152"/>
            <a:ext cx="537326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3. Splitting:</a:t>
            </a:r>
            <a:r>
              <a:rPr lang="en-US" sz="4000" dirty="0"/>
              <a:t> Divided the data into an 80% training set and a 20% testing set. Stratification was used to maintain the class distribution in both sets.</a:t>
            </a:r>
          </a:p>
        </p:txBody>
      </p:sp>
      <p:pic>
        <p:nvPicPr>
          <p:cNvPr id="3" name="Picture 2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E9F57A70-0E2D-434B-4D21-3D24DC98DC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4602" y="1327148"/>
            <a:ext cx="5473700" cy="420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4011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A2A021-0AB1-C0EC-1F51-DFFF4DBA0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022C9D24-C687-35E1-4950-1F548A0CBE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" name="Picture 25" descr="A web of dots connected">
            <a:extLst>
              <a:ext uri="{FF2B5EF4-FFF2-40B4-BE49-F238E27FC236}">
                <a16:creationId xmlns:a16="http://schemas.microsoft.com/office/drawing/2014/main" id="{EB1A5F86-9BC4-158A-77F2-92E9ACCD489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20444"/>
          <a:stretch>
            <a:fillRect/>
          </a:stretch>
        </p:blipFill>
        <p:spPr>
          <a:xfrm>
            <a:off x="-2" y="-14994"/>
            <a:ext cx="12191999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D4FBF7E-EEEF-353B-6C7F-35D6704806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F24AD3-05A7-A63B-E725-16F8B6D1F3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8BF10D-C3C3-1EA1-9A9D-36C52E7A4D0E}"/>
              </a:ext>
            </a:extLst>
          </p:cNvPr>
          <p:cNvSpPr txBox="1"/>
          <p:nvPr/>
        </p:nvSpPr>
        <p:spPr>
          <a:xfrm>
            <a:off x="6615430" y="874849"/>
            <a:ext cx="537326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4. Scaling:</a:t>
            </a:r>
            <a:r>
              <a:rPr lang="en-US" sz="3600" dirty="0"/>
              <a:t> Standardized all features using StandardScaler. This prevents features with larger scales from dominating the model and is crucial for models like Logistic Regression and </a:t>
            </a:r>
            <a:r>
              <a:rPr lang="en-US" sz="3600" dirty="0" err="1"/>
              <a:t>kNN</a:t>
            </a:r>
            <a:r>
              <a:rPr lang="en-US" sz="3600" dirty="0"/>
              <a:t>.</a:t>
            </a:r>
          </a:p>
        </p:txBody>
      </p:sp>
      <p:pic>
        <p:nvPicPr>
          <p:cNvPr id="4" name="Picture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D9B3AC0A-A253-726C-372C-86633F5963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870" y="900147"/>
            <a:ext cx="5207481" cy="570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6026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F8B0D3-BE06-5F6C-E114-7AE20F079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7DC3D1C-293C-907C-6EE5-26B597B221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" name="Picture 25" descr="A web of dots connected">
            <a:extLst>
              <a:ext uri="{FF2B5EF4-FFF2-40B4-BE49-F238E27FC236}">
                <a16:creationId xmlns:a16="http://schemas.microsoft.com/office/drawing/2014/main" id="{75A84ABE-2F8A-C071-D228-098BBDCB12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20444"/>
          <a:stretch>
            <a:fillRect/>
          </a:stretch>
        </p:blipFill>
        <p:spPr>
          <a:xfrm>
            <a:off x="-76843" y="0"/>
            <a:ext cx="12191999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019AFB5-C5AD-5DC2-09F8-7BD046FC4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CCB25A-E2DB-5A48-02C8-270E61C8A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E77A84E-D7FE-7D4D-26CF-70F770801343}"/>
              </a:ext>
            </a:extLst>
          </p:cNvPr>
          <p:cNvSpPr/>
          <p:nvPr/>
        </p:nvSpPr>
        <p:spPr>
          <a:xfrm>
            <a:off x="1534453" y="2615136"/>
            <a:ext cx="9223193" cy="162771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0" dirty="0"/>
              <a:t>05. Model 1: Logistic Regression</a:t>
            </a:r>
          </a:p>
        </p:txBody>
      </p:sp>
    </p:spTree>
    <p:extLst>
      <p:ext uri="{BB962C8B-B14F-4D97-AF65-F5344CB8AC3E}">
        <p14:creationId xmlns:p14="http://schemas.microsoft.com/office/powerpoint/2010/main" val="32529964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7D94C6-C9AE-57B6-9018-23DF8CA2B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1BD212C-3040-E559-AFB6-AD069B890A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" name="Picture 25" descr="A web of dots connected">
            <a:extLst>
              <a:ext uri="{FF2B5EF4-FFF2-40B4-BE49-F238E27FC236}">
                <a16:creationId xmlns:a16="http://schemas.microsoft.com/office/drawing/2014/main" id="{3B7C3A9B-A22D-46C7-1D48-24CC1D8224D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20444"/>
          <a:stretch>
            <a:fillRect/>
          </a:stretch>
        </p:blipFill>
        <p:spPr>
          <a:xfrm>
            <a:off x="-76843" y="0"/>
            <a:ext cx="12191999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6ED589A-6BE7-C146-0617-2C787DC72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B1F63C-FD3D-463D-0D80-07DE8DF00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782EE2-EA73-B31B-2D83-3E1C077412CB}"/>
              </a:ext>
            </a:extLst>
          </p:cNvPr>
          <p:cNvSpPr txBox="1"/>
          <p:nvPr/>
        </p:nvSpPr>
        <p:spPr>
          <a:xfrm>
            <a:off x="425661" y="826905"/>
            <a:ext cx="7597080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800" dirty="0"/>
              <a:t>Performance of Logistic Regression</a:t>
            </a:r>
          </a:p>
        </p:txBody>
      </p:sp>
      <p:pic>
        <p:nvPicPr>
          <p:cNvPr id="5" name="Picture 4" descr="A diagram of a logistic regression confusion matrix.">
            <a:extLst>
              <a:ext uri="{FF2B5EF4-FFF2-40B4-BE49-F238E27FC236}">
                <a16:creationId xmlns:a16="http://schemas.microsoft.com/office/drawing/2014/main" id="{71EED77B-6CF6-9DA1-C9D3-0257755BB4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870" y="1504013"/>
            <a:ext cx="5127705" cy="43924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403B973-EC78-D05E-84C3-DC922EBC989C}"/>
              </a:ext>
            </a:extLst>
          </p:cNvPr>
          <p:cNvSpPr txBox="1"/>
          <p:nvPr/>
        </p:nvSpPr>
        <p:spPr>
          <a:xfrm>
            <a:off x="6693215" y="1495219"/>
            <a:ext cx="456431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Accuracy:</a:t>
            </a:r>
            <a:r>
              <a:rPr lang="en-US" sz="2000" dirty="0"/>
              <a:t> </a:t>
            </a:r>
            <a:r>
              <a:rPr lang="en-US" sz="2000" b="1" dirty="0"/>
              <a:t>96.49%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Summary: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Correctly Predicted: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/>
              <a:t>Benign: 71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/>
              <a:t>Malignant: 39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Incorrectly Predicted: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/>
              <a:t>Benign as Malignant (False Positive): 1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/>
              <a:t>Malignant as Benign (False Negative): 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Conclusion:</a:t>
            </a:r>
            <a:r>
              <a:rPr lang="en-US" sz="2000" dirty="0"/>
              <a:t> The model is highly accurate, but it's important to note the 3 cases of malignant tumors that were missed (False Negatives).</a:t>
            </a:r>
          </a:p>
        </p:txBody>
      </p:sp>
    </p:spTree>
    <p:extLst>
      <p:ext uri="{BB962C8B-B14F-4D97-AF65-F5344CB8AC3E}">
        <p14:creationId xmlns:p14="http://schemas.microsoft.com/office/powerpoint/2010/main" val="26351439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D642F2-AE9C-9FE4-06F4-29CD8B7A9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528C9530-FB27-ABDE-AC36-30C6192D4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" name="Picture 25" descr="A web of dots connected">
            <a:extLst>
              <a:ext uri="{FF2B5EF4-FFF2-40B4-BE49-F238E27FC236}">
                <a16:creationId xmlns:a16="http://schemas.microsoft.com/office/drawing/2014/main" id="{F513C462-BFEF-0C19-4B5D-161EAFD82C8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20444"/>
          <a:stretch>
            <a:fillRect/>
          </a:stretch>
        </p:blipFill>
        <p:spPr>
          <a:xfrm>
            <a:off x="-76843" y="0"/>
            <a:ext cx="12191999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24F619A-0019-05D7-6A3F-44BD37B24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10B220B-638C-D038-D9DF-990571151B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D060950-AC57-746A-9E9C-96E2D13CC977}"/>
              </a:ext>
            </a:extLst>
          </p:cNvPr>
          <p:cNvSpPr/>
          <p:nvPr/>
        </p:nvSpPr>
        <p:spPr>
          <a:xfrm>
            <a:off x="1534453" y="2615136"/>
            <a:ext cx="9223193" cy="162771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06. Model 2: k-Nearest Neighbors (</a:t>
            </a:r>
            <a:r>
              <a:rPr lang="en-US" sz="4000" dirty="0" err="1"/>
              <a:t>kNN</a:t>
            </a:r>
            <a:r>
              <a:rPr lang="en-US" sz="4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870889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34F691-8C62-6CF0-59C2-8ECF6505D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9D9E3F8A-08D7-411D-E37E-FC332040C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" name="Picture 25" descr="A web of dots connected">
            <a:extLst>
              <a:ext uri="{FF2B5EF4-FFF2-40B4-BE49-F238E27FC236}">
                <a16:creationId xmlns:a16="http://schemas.microsoft.com/office/drawing/2014/main" id="{117A2A8E-DB4B-E1C7-27C0-D8A16F31E6A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20444"/>
          <a:stretch>
            <a:fillRect/>
          </a:stretch>
        </p:blipFill>
        <p:spPr>
          <a:xfrm>
            <a:off x="-76843" y="0"/>
            <a:ext cx="12191999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9BC7220-245B-A47C-8876-646FCD1271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B027581-9F6D-BFE5-14A9-B281AAD6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101BDF-E466-1B7E-E08F-6E94B4BE8079}"/>
              </a:ext>
            </a:extLst>
          </p:cNvPr>
          <p:cNvSpPr txBox="1"/>
          <p:nvPr/>
        </p:nvSpPr>
        <p:spPr>
          <a:xfrm>
            <a:off x="425661" y="826905"/>
            <a:ext cx="93303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800" dirty="0"/>
              <a:t>Performance of </a:t>
            </a:r>
            <a:r>
              <a:rPr lang="en-US" sz="4000" dirty="0"/>
              <a:t>k-Nearest Neighbors (k=5)</a:t>
            </a:r>
            <a:endParaRPr lang="en-US" sz="3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A4F5B5-2FC1-D147-903E-9AFEB32EBC51}"/>
              </a:ext>
            </a:extLst>
          </p:cNvPr>
          <p:cNvSpPr txBox="1"/>
          <p:nvPr/>
        </p:nvSpPr>
        <p:spPr>
          <a:xfrm>
            <a:off x="974737" y="1693481"/>
            <a:ext cx="456431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Accuracy:</a:t>
            </a:r>
            <a:r>
              <a:rPr lang="en-US" sz="2000" dirty="0"/>
              <a:t> </a:t>
            </a:r>
            <a:r>
              <a:rPr lang="en-US" sz="2000" b="1" dirty="0"/>
              <a:t>95.61%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Summary: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Correctly Predicted: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/>
              <a:t>Benign: 71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/>
              <a:t>Malignant: 38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Incorrectly Predicted: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/>
              <a:t>Benign as Malignant (False Positive): 1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/>
              <a:t>Malignant as Benign (False Negative): 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Conclusion:</a:t>
            </a:r>
            <a:r>
              <a:rPr lang="en-US" sz="2000" dirty="0"/>
              <a:t> </a:t>
            </a:r>
            <a:r>
              <a:rPr lang="en-US" sz="2000" dirty="0" err="1"/>
              <a:t>kNN</a:t>
            </a:r>
            <a:r>
              <a:rPr lang="en-US" sz="2000" dirty="0"/>
              <a:t> also performs very well, with a slightly lower accuracy and one more False Negative compared to Logistic Regression.</a:t>
            </a:r>
          </a:p>
        </p:txBody>
      </p:sp>
      <p:pic>
        <p:nvPicPr>
          <p:cNvPr id="4" name="Picture 3" descr="A diagram of a confusion matrix for kNN">
            <a:extLst>
              <a:ext uri="{FF2B5EF4-FFF2-40B4-BE49-F238E27FC236}">
                <a16:creationId xmlns:a16="http://schemas.microsoft.com/office/drawing/2014/main" id="{5A1E7E09-F981-B71E-0EB5-6B9A01B06B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2232" y="1534791"/>
            <a:ext cx="5302221" cy="4561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8181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80F1D6-6057-4563-F768-EBD91F307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091F0CC1-8A4E-9AED-A647-6AE4A9D5D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" name="Picture 25" descr="A web of dots connected">
            <a:extLst>
              <a:ext uri="{FF2B5EF4-FFF2-40B4-BE49-F238E27FC236}">
                <a16:creationId xmlns:a16="http://schemas.microsoft.com/office/drawing/2014/main" id="{1401990B-32F7-E927-F070-CDB92DD66D7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20444"/>
          <a:stretch>
            <a:fillRect/>
          </a:stretch>
        </p:blipFill>
        <p:spPr>
          <a:xfrm>
            <a:off x="0" y="84524"/>
            <a:ext cx="12191999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3E34179-7E71-807D-636C-DAC0E4AC5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AE2E9C-085A-E4A1-C8D9-282A2AB28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2226E45-F151-3064-1603-1B82753BD7EB}"/>
              </a:ext>
            </a:extLst>
          </p:cNvPr>
          <p:cNvSpPr/>
          <p:nvPr/>
        </p:nvSpPr>
        <p:spPr>
          <a:xfrm>
            <a:off x="1534453" y="2615136"/>
            <a:ext cx="9223193" cy="162771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9312537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C0AA0A-565A-B29B-8A83-8A4434E23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00B5EEA-EB34-759E-F292-814723FB15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" name="Picture 25" descr="A web of dots connected">
            <a:extLst>
              <a:ext uri="{FF2B5EF4-FFF2-40B4-BE49-F238E27FC236}">
                <a16:creationId xmlns:a16="http://schemas.microsoft.com/office/drawing/2014/main" id="{95826F47-315B-D18D-B735-23B895A3157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20444"/>
          <a:stretch>
            <a:fillRect/>
          </a:stretch>
        </p:blipFill>
        <p:spPr>
          <a:xfrm>
            <a:off x="-76843" y="0"/>
            <a:ext cx="12191999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A03E6FF-6D9B-2877-9811-249757EEF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E66426-160D-6BD7-95E1-6BB2F25C9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AC0CF7-4BF4-801E-F07B-A8A2A320B0CD}"/>
              </a:ext>
            </a:extLst>
          </p:cNvPr>
          <p:cNvSpPr txBox="1"/>
          <p:nvPr/>
        </p:nvSpPr>
        <p:spPr>
          <a:xfrm>
            <a:off x="425661" y="826905"/>
            <a:ext cx="49927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Summary of Findings</a:t>
            </a:r>
            <a:endParaRPr lang="en-US" sz="3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79B9EE-8157-8468-D140-5FF3A1F762D7}"/>
              </a:ext>
            </a:extLst>
          </p:cNvPr>
          <p:cNvSpPr txBox="1"/>
          <p:nvPr/>
        </p:nvSpPr>
        <p:spPr>
          <a:xfrm>
            <a:off x="974737" y="1693481"/>
            <a:ext cx="949860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/>
              <a:t>Both Logistic Regression and </a:t>
            </a:r>
            <a:r>
              <a:rPr lang="en-US" sz="3000" dirty="0" err="1"/>
              <a:t>kNN</a:t>
            </a:r>
            <a:r>
              <a:rPr lang="en-US" sz="3000" dirty="0"/>
              <a:t> models achieved high accuracy (&gt;95%) in diagnosing breast cancer from the WDBC dataset.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/>
              <a:t>Exploratory analysis showed clear distinctions in features like </a:t>
            </a:r>
            <a:r>
              <a:rPr lang="en-US" sz="3000" dirty="0" err="1"/>
              <a:t>radius_mean</a:t>
            </a:r>
            <a:r>
              <a:rPr lang="en-US" sz="3000" dirty="0"/>
              <a:t> between benign and malignant tumors.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/>
              <a:t>Logistic Regression slightly outperformed </a:t>
            </a:r>
            <a:r>
              <a:rPr lang="en-US" sz="3000" dirty="0" err="1"/>
              <a:t>kNN</a:t>
            </a:r>
            <a:r>
              <a:rPr lang="en-US" sz="3000" dirty="0"/>
              <a:t>, particularly in minimizing dangerous False Negatives.</a:t>
            </a:r>
          </a:p>
        </p:txBody>
      </p:sp>
    </p:spTree>
    <p:extLst>
      <p:ext uri="{BB962C8B-B14F-4D97-AF65-F5344CB8AC3E}">
        <p14:creationId xmlns:p14="http://schemas.microsoft.com/office/powerpoint/2010/main" val="23142687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AC33EB-51E6-544B-906A-15C7E986D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8C2DCB3E-D652-7FA1-2A70-B3AF92FB4F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" name="Picture 25" descr="A web of dots connected">
            <a:extLst>
              <a:ext uri="{FF2B5EF4-FFF2-40B4-BE49-F238E27FC236}">
                <a16:creationId xmlns:a16="http://schemas.microsoft.com/office/drawing/2014/main" id="{6D13BE3F-307F-A327-D1E7-7120F954302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20444"/>
          <a:stretch>
            <a:fillRect/>
          </a:stretch>
        </p:blipFill>
        <p:spPr>
          <a:xfrm>
            <a:off x="-76843" y="0"/>
            <a:ext cx="12191999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B377C95-55A7-7E87-E76D-8C7688BE61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A471F9-B836-7524-12B1-5E1783A0D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7E3105-1D2F-1309-C665-FF632E197458}"/>
              </a:ext>
            </a:extLst>
          </p:cNvPr>
          <p:cNvSpPr txBox="1"/>
          <p:nvPr/>
        </p:nvSpPr>
        <p:spPr>
          <a:xfrm>
            <a:off x="425661" y="826905"/>
            <a:ext cx="583037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Future Work / Next Steps:</a:t>
            </a:r>
            <a:endParaRPr lang="en-US" sz="3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D4E68C-4F55-9B58-364B-554D6E6E137A}"/>
              </a:ext>
            </a:extLst>
          </p:cNvPr>
          <p:cNvSpPr txBox="1"/>
          <p:nvPr/>
        </p:nvSpPr>
        <p:spPr>
          <a:xfrm>
            <a:off x="920949" y="1905504"/>
            <a:ext cx="949860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Experiment with other models (e.g., Support Vector Machines, Random Forest, Gradient Boosting).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Perform hyperparameter tuning to optimize model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Explore feature selection or dimensionality reduction (PCA) to address multicollinearity.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6996292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93</TotalTime>
  <Words>798</Words>
  <Application>Microsoft Macintosh PowerPoint</Application>
  <PresentationFormat>Widescreen</PresentationFormat>
  <Paragraphs>89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Bierstadt</vt:lpstr>
      <vt:lpstr>GestaltVTI</vt:lpstr>
      <vt:lpstr>Breast Cancer Diagnosis Using Machine 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Amit Ashok Manjarly (Student)</dc:creator>
  <cp:lastModifiedBy>Amit Ashok Manjarly (Student)</cp:lastModifiedBy>
  <cp:revision>12</cp:revision>
  <dcterms:created xsi:type="dcterms:W3CDTF">2025-10-05T16:27:40Z</dcterms:created>
  <dcterms:modified xsi:type="dcterms:W3CDTF">2025-10-05T18:00:53Z</dcterms:modified>
</cp:coreProperties>
</file>