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E17CFA-CFA4-48FA-8A8B-D749505838F3}">
  <a:tblStyle styleId="{F9E17CFA-CFA4-48FA-8A8B-D749505838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910a50f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f910a50fe_2_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910a50fe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9f910a50fe_2_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910a50fe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f910a50fe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910a50fe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f910a50fe_2_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f910a50fe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f910a50fe_2_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910a50f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f910a50fe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910a50fe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9f910a50fe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910a50fe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f910a50fe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910a50fe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f910a50fe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910a50fe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f910a50fe_2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910a50fe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f910a50fe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f910a50fe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f910a50fe_2_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f910a50fe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9f910a50fe_2_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f910a50fe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f910a50fe_2_1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f910a50fe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9f910a50fe_2_1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f910a50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f910a50f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f910a50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9f910a50f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f910a50f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9f910a50f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f910a50f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f910a50fe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f910a50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9f910a50fe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726442" y="841772"/>
            <a:ext cx="5691116" cy="196586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726442" y="2882781"/>
            <a:ext cx="5691116" cy="10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724122" y="4839752"/>
            <a:ext cx="32190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486" y="411480"/>
            <a:ext cx="7990184" cy="8491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9485" y="1286649"/>
            <a:ext cx="7990184" cy="3445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4122" y="4839752"/>
            <a:ext cx="32190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5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 abstract genetic concept" id="73" name="Google Shape;73;p16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448234" y="263426"/>
            <a:ext cx="6247531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Breast Cancer Detection: A Data Mining Approach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CSE 572: Data Mining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Prof. Yanjie Fu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Amit Ashok Manjarly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Aditya Deshpande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 abstract genetic concept" id="80" name="Google Shape;80;p17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789894" y="1905265"/>
            <a:ext cx="1992013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sz="1100"/>
          </a:p>
        </p:txBody>
      </p:sp>
      <p:sp>
        <p:nvSpPr>
          <p:cNvPr id="82" name="Google Shape;82;p17"/>
          <p:cNvSpPr txBox="1"/>
          <p:nvPr/>
        </p:nvSpPr>
        <p:spPr>
          <a:xfrm>
            <a:off x="4229372" y="847725"/>
            <a:ext cx="479441" cy="51740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855637" y="846153"/>
            <a:ext cx="3783538" cy="51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Introduction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229372" y="1495760"/>
            <a:ext cx="525135" cy="51740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6943" y="1494503"/>
            <a:ext cx="3783539" cy="51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Initial EDA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229372" y="2143796"/>
            <a:ext cx="535680" cy="517402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886943" y="2142854"/>
            <a:ext cx="3783539" cy="517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 Pre-processing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229372" y="2791831"/>
            <a:ext cx="523964" cy="51740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886943" y="2791204"/>
            <a:ext cx="3783539" cy="517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Initial Model Training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229372" y="3439866"/>
            <a:ext cx="523964" cy="51740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916153" y="3439554"/>
            <a:ext cx="3783538" cy="51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Check point 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229372" y="4087903"/>
            <a:ext cx="523964" cy="51740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886943" y="4087903"/>
            <a:ext cx="3783539" cy="51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Conclusion and Future Plan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 abstract genetic concept" id="99" name="Google Shape;99;p18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248307" y="271955"/>
            <a:ext cx="36418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Introduction</a:t>
            </a:r>
            <a:endParaRPr b="0" i="0" sz="3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48307" y="99477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Initial Dataset: The Wisconsin Diagnostic Breast Cancer (WDBC)</a:t>
            </a:r>
            <a:endParaRPr sz="1100"/>
          </a:p>
        </p:txBody>
      </p:sp>
      <p:sp>
        <p:nvSpPr>
          <p:cNvPr id="102" name="Google Shape;102;p18"/>
          <p:cNvSpPr txBox="1"/>
          <p:nvPr/>
        </p:nvSpPr>
        <p:spPr>
          <a:xfrm flipH="1">
            <a:off x="257832" y="1979758"/>
            <a:ext cx="4274003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WDBC Overview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8"/>
          <p:cNvCxnSpPr/>
          <p:nvPr/>
        </p:nvCxnSpPr>
        <p:spPr>
          <a:xfrm rot="10800000">
            <a:off x="357164" y="2363273"/>
            <a:ext cx="507631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 txBox="1"/>
          <p:nvPr/>
        </p:nvSpPr>
        <p:spPr>
          <a:xfrm flipH="1">
            <a:off x="257832" y="2482418"/>
            <a:ext cx="4274003" cy="767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well-known, clean dataset initially considered for its simplicity; it serves as good starting point for breast cancer detection modeling.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 flipH="1">
            <a:off x="248307" y="3219731"/>
            <a:ext cx="4274003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"Good Problem": Overly Clean Data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 flipH="1">
            <a:off x="248307" y="3722392"/>
            <a:ext cx="4274003" cy="7678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accuracy (95-97%) with baseline models due to the data's inherent simplicity; challenges the project's learning objectives.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screen&#10;&#10;AI-generated content may be incorrect."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302" y="1764644"/>
            <a:ext cx="3745705" cy="2203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12" name="Google Shape;112;p19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The Solution: Surveillance, Epidemiology, and End Results (SEER) Dataset</a:t>
            </a:r>
            <a:endParaRPr sz="1100"/>
          </a:p>
        </p:txBody>
      </p:sp>
      <p:sp>
        <p:nvSpPr>
          <p:cNvPr id="114" name="Google Shape;114;p19"/>
          <p:cNvSpPr txBox="1"/>
          <p:nvPr/>
        </p:nvSpPr>
        <p:spPr>
          <a:xfrm>
            <a:off x="4067264" y="1193851"/>
            <a:ext cx="545087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4645622" y="1226803"/>
            <a:ext cx="3638536" cy="3133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SEER Overview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645622" y="1664687"/>
            <a:ext cx="3638537" cy="10098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 larger, more complex dataset providing real-world challenges; SEER offers a mix of numerical and categorical data.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067264" y="3052733"/>
            <a:ext cx="545087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4645618" y="3160199"/>
            <a:ext cx="3638537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Real-World Data Mining Challenges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645618" y="3422024"/>
            <a:ext cx="3638537" cy="10098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Missing values, class imbalance, and complex data types offer opportunities; SEER offers a better representation of reality for modeling.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003610"/>
            <a:ext cx="3451801" cy="368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25" name="Google Shape;125;p20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502239" y="278196"/>
            <a:ext cx="3246014" cy="6463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 Initial EDA</a:t>
            </a:r>
            <a:endParaRPr b="0" i="0" sz="3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02239" y="701257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Initial Data Inspection</a:t>
            </a:r>
            <a:endParaRPr b="1" i="0" sz="21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28" name="Google Shape;128;p20"/>
          <p:cNvSpPr/>
          <p:nvPr/>
        </p:nvSpPr>
        <p:spPr>
          <a:xfrm flipH="1">
            <a:off x="4573684" y="2255426"/>
            <a:ext cx="4285662" cy="5254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 4,000 patient records with 16 columns; SEER offers the appropriate scope and scale for meaningful modeling.</a:t>
            </a:r>
            <a:endParaRPr sz="1100"/>
          </a:p>
        </p:txBody>
      </p:sp>
      <p:sp>
        <p:nvSpPr>
          <p:cNvPr id="129" name="Google Shape;129;p20"/>
          <p:cNvSpPr txBox="1"/>
          <p:nvPr/>
        </p:nvSpPr>
        <p:spPr>
          <a:xfrm>
            <a:off x="4573684" y="1622930"/>
            <a:ext cx="428566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Size and Structure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661366" y="2081348"/>
            <a:ext cx="1145722" cy="36025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 flipH="1">
            <a:off x="4573684" y="4117563"/>
            <a:ext cx="4285662" cy="5254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Mix of int64 (numerical) and object (categorical) data types; requires careful preprocessing to prepare for analysis.</a:t>
            </a:r>
            <a:endParaRPr sz="1100"/>
          </a:p>
        </p:txBody>
      </p:sp>
      <p:sp>
        <p:nvSpPr>
          <p:cNvPr id="132" name="Google Shape;132;p20"/>
          <p:cNvSpPr txBox="1"/>
          <p:nvPr/>
        </p:nvSpPr>
        <p:spPr>
          <a:xfrm>
            <a:off x="4573684" y="3485068"/>
            <a:ext cx="4285662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661366" y="3943486"/>
            <a:ext cx="1145722" cy="36025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655" y="1857446"/>
            <a:ext cx="4004373" cy="2170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39" name="Google Shape;139;p21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Target Variable Analysis: Status</a:t>
            </a:r>
            <a:endParaRPr b="1" i="0" sz="21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 flipH="1">
            <a:off x="504825" y="1081428"/>
            <a:ext cx="4274003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Distribution of "Alive" vs. "Dead"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1"/>
          <p:cNvCxnSpPr/>
          <p:nvPr/>
        </p:nvCxnSpPr>
        <p:spPr>
          <a:xfrm rot="10800000">
            <a:off x="604157" y="1464944"/>
            <a:ext cx="507631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21"/>
          <p:cNvSpPr txBox="1"/>
          <p:nvPr/>
        </p:nvSpPr>
        <p:spPr>
          <a:xfrm flipH="1">
            <a:off x="504825" y="1584088"/>
            <a:ext cx="4274003" cy="7678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Significant class imbalance: 85% "Alive," 15% "Dead"; reveals challenges the modeling must overcome.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 flipH="1">
            <a:off x="495300" y="2702748"/>
            <a:ext cx="4274003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Implications of Class Imbalance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21"/>
          <p:cNvCxnSpPr/>
          <p:nvPr/>
        </p:nvCxnSpPr>
        <p:spPr>
          <a:xfrm rot="10800000">
            <a:off x="594632" y="3086264"/>
            <a:ext cx="507631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21"/>
          <p:cNvSpPr txBox="1"/>
          <p:nvPr/>
        </p:nvSpPr>
        <p:spPr>
          <a:xfrm flipH="1">
            <a:off x="495300" y="3205409"/>
            <a:ext cx="4274003" cy="7678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 as a misleading metric; emphasizes the need to correctly identify the minority class "Dead."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graph&#10;&#10;AI-generated content may be incorrect." id="147" name="Google Shape;1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9159" y="560675"/>
            <a:ext cx="4124512" cy="3158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52" name="Google Shape;152;p22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3" name="Google Shape;1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660431" cy="2010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4" name="Google Shape;1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1574" y="1"/>
            <a:ext cx="2742426" cy="2010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5" name="Google Shape;15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" y="3114053"/>
            <a:ext cx="2660431" cy="202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6" name="Google Shape;15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1572" y="3089369"/>
            <a:ext cx="2742427" cy="2054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7" name="Google Shape;15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08168" y="0"/>
            <a:ext cx="2845669" cy="2036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58" name="Google Shape;15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08168" y="3114053"/>
            <a:ext cx="2845669" cy="2029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2801788" y="2396434"/>
            <a:ext cx="3599784" cy="3577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”Alive” vs “Dead” Comparison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64" name="Google Shape;164;p23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65" name="Google Shape;1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648607" cy="1888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66" name="Google Shape;16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133397"/>
            <a:ext cx="2815248" cy="2010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67" name="Google Shape;1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7277" y="-5376"/>
            <a:ext cx="3201341" cy="1894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graph with a line&#10;&#10;AI-generated content may be incorrect." id="168" name="Google Shape;1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53270" y="3138773"/>
            <a:ext cx="2974954" cy="2010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cancer size distribution&#10;&#10;AI-generated content may be incorrect." id="169" name="Google Shape;1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6533" y="0"/>
            <a:ext cx="2937467" cy="1894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showing a normal distribution&#10;&#10;AI-generated content may be incorrect." id="170" name="Google Shape;17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66245" y="3133397"/>
            <a:ext cx="3077754" cy="20101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2801788" y="2396434"/>
            <a:ext cx="3599784" cy="3577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”Alive” vs “Dead” Comparison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76" name="Google Shape;176;p24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177" name="Google Shape;1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72" y="1141028"/>
            <a:ext cx="3480389" cy="286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screen&#10;&#10;AI-generated content may be incorrect." id="178" name="Google Shape;1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2703" y="390472"/>
            <a:ext cx="5313056" cy="4362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83" name="Google Shape;183;p25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Categorical Feature Analysis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804802" y="2656184"/>
            <a:ext cx="566798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826367" y="3196571"/>
            <a:ext cx="3188360" cy="7972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"Marital Status," "T Stage," and "N Stage" show varying proportions of "Alive" vs. "Dead"; categorical variables are of particular interest as they possess real predictive value.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5119626" y="2650544"/>
            <a:ext cx="666811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5141315" y="3190932"/>
            <a:ext cx="3188360" cy="7675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Confirms the importance of including these features in the predictive model; inclusion assists with overall model performance.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322777" y="2713078"/>
            <a:ext cx="2691950" cy="3829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Insights from Categorical Features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5647249" y="2713078"/>
            <a:ext cx="2682425" cy="3829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Predictive Value of Categorical Data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screen with white text&#10;&#10;AI-generated content may be incorrect." id="191" name="Google Shape;1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021" y="1157287"/>
            <a:ext cx="30670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92" name="Google Shape;1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7249" y="599264"/>
            <a:ext cx="1924649" cy="199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197" name="Google Shape;197;p26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236483" y="266372"/>
            <a:ext cx="5356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 Data Preprocessing</a:t>
            </a:r>
            <a:endParaRPr sz="3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236482" y="752171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The Preprocessing Strategy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 flipH="1">
            <a:off x="246007" y="1737159"/>
            <a:ext cx="4274003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Goal of the Pipeline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26"/>
          <p:cNvCxnSpPr/>
          <p:nvPr/>
        </p:nvCxnSpPr>
        <p:spPr>
          <a:xfrm rot="10800000">
            <a:off x="345340" y="2120675"/>
            <a:ext cx="507631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6"/>
          <p:cNvSpPr txBox="1"/>
          <p:nvPr/>
        </p:nvSpPr>
        <p:spPr>
          <a:xfrm flipH="1">
            <a:off x="246007" y="2239820"/>
            <a:ext cx="4274003" cy="767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create a single, automated, and robust process; address missing values, different data types, and scaling issues.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 flipH="1">
            <a:off x="236482" y="3358479"/>
            <a:ext cx="4274003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and Techniques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6"/>
          <p:cNvCxnSpPr/>
          <p:nvPr/>
        </p:nvCxnSpPr>
        <p:spPr>
          <a:xfrm rot="10800000">
            <a:off x="335815" y="3741995"/>
            <a:ext cx="507631" cy="0"/>
          </a:xfrm>
          <a:prstGeom prst="straightConnector1">
            <a:avLst/>
          </a:prstGeom>
          <a:noFill/>
          <a:ln cap="rnd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6"/>
          <p:cNvSpPr txBox="1"/>
          <p:nvPr/>
        </p:nvSpPr>
        <p:spPr>
          <a:xfrm flipH="1">
            <a:off x="236482" y="3861140"/>
            <a:ext cx="4274003" cy="7678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Using scikit-learn's ColumnTransformer and Pipeline objects; ColumnTransformer and Pipeline prevent data leakage.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mputer screen shot of white text&#10;&#10;AI-generated content may be incorrect." id="206" name="Google Shape;20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193438"/>
            <a:ext cx="4398156" cy="124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955170"/>
            <a:ext cx="42957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12" name="Google Shape;212;p27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3999019" y="771524"/>
            <a:ext cx="3267074" cy="25391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Yahei"/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Numerical Data Pipeline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3999017" y="1125627"/>
            <a:ext cx="3267074" cy="874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Imputation of missing values using the median; imputation is chosen over mean because the median is more robust with outlier removal.</a:t>
            </a:r>
            <a:endParaRPr sz="1100"/>
          </a:p>
        </p:txBody>
      </p:sp>
      <p:sp>
        <p:nvSpPr>
          <p:cNvPr id="215" name="Google Shape;215;p27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Parallel Pipelines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5252376" y="3622916"/>
            <a:ext cx="3267074" cy="25391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Yahei"/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Scaling with StandardScaler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252374" y="3977019"/>
            <a:ext cx="3267074" cy="874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Scaling all features using StandardScaler; ensures features like "Age" don't overpower features like "Tumor Size."</a:t>
            </a:r>
            <a:endParaRPr sz="1100"/>
          </a:p>
        </p:txBody>
      </p:sp>
      <p:pic>
        <p:nvPicPr>
          <p:cNvPr descr="A screenshot of a computer&#10;&#10;AI-generated content may be incorrect." id="218" name="Google Shape;2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692531"/>
            <a:ext cx="3176588" cy="3150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screen with white text&#10;&#10;AI-generated content may be incorrect." id="219" name="Google Shape;2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5269" y="2201367"/>
            <a:ext cx="19812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24" name="Google Shape;224;p28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Categorical Data Pipeline</a:t>
            </a:r>
            <a:endParaRPr sz="1100"/>
          </a:p>
        </p:txBody>
      </p:sp>
      <p:sp>
        <p:nvSpPr>
          <p:cNvPr id="226" name="Google Shape;226;p28"/>
          <p:cNvSpPr/>
          <p:nvPr/>
        </p:nvSpPr>
        <p:spPr>
          <a:xfrm>
            <a:off x="915451" y="1066346"/>
            <a:ext cx="2441100" cy="2081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Imputation of Missing Categories</a:t>
            </a:r>
            <a:endParaRPr sz="1100"/>
          </a:p>
        </p:txBody>
      </p:sp>
      <p:sp>
        <p:nvSpPr>
          <p:cNvPr id="227" name="Google Shape;227;p28"/>
          <p:cNvSpPr/>
          <p:nvPr/>
        </p:nvSpPr>
        <p:spPr>
          <a:xfrm>
            <a:off x="915451" y="1459107"/>
            <a:ext cx="2441100" cy="6096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Imputation using the mode (most frequent value); ensures that missing values do not influence outcomes.</a:t>
            </a:r>
            <a:endParaRPr sz="1100"/>
          </a:p>
        </p:txBody>
      </p:sp>
      <p:sp>
        <p:nvSpPr>
          <p:cNvPr id="228" name="Google Shape;228;p28"/>
          <p:cNvSpPr/>
          <p:nvPr/>
        </p:nvSpPr>
        <p:spPr>
          <a:xfrm>
            <a:off x="5787449" y="917432"/>
            <a:ext cx="2441100" cy="213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One-Hot Encoding</a:t>
            </a:r>
            <a:endParaRPr sz="1100"/>
          </a:p>
        </p:txBody>
      </p:sp>
      <p:sp>
        <p:nvSpPr>
          <p:cNvPr id="229" name="Google Shape;229;p28"/>
          <p:cNvSpPr/>
          <p:nvPr/>
        </p:nvSpPr>
        <p:spPr>
          <a:xfrm>
            <a:off x="5787449" y="1310192"/>
            <a:ext cx="2441100" cy="1032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Converting text into a binary vector; prevents the model from incorrectly learning relationships between categories such as “Married” and “Single.”</a:t>
            </a:r>
            <a:endParaRPr sz="1100"/>
          </a:p>
        </p:txBody>
      </p:sp>
      <p:pic>
        <p:nvPicPr>
          <p:cNvPr descr="A screenshot of a computer&#10;&#10;AI-generated content may be incorrect." id="230" name="Google Shape;2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34" y="2345418"/>
            <a:ext cx="4621163" cy="224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2830" y="2571750"/>
            <a:ext cx="3858230" cy="180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36" name="Google Shape;236;p29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Final Processed Data &amp; Handoff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611612" y="1500846"/>
            <a:ext cx="56650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>
                <a:solidFill>
                  <a:srgbClr val="4FA5C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610421" y="2751746"/>
            <a:ext cx="2056513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Performing train-test split before any preprocessing; fitting preprocessor on training data only.</a:t>
            </a:r>
            <a:endParaRPr sz="1100"/>
          </a:p>
        </p:txBody>
      </p:sp>
      <p:sp>
        <p:nvSpPr>
          <p:cNvPr id="240" name="Google Shape;240;p29"/>
          <p:cNvSpPr txBox="1"/>
          <p:nvPr/>
        </p:nvSpPr>
        <p:spPr>
          <a:xfrm>
            <a:off x="611611" y="2276337"/>
            <a:ext cx="249077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Train-Test Split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3543744" y="1500846"/>
            <a:ext cx="56650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>
                <a:solidFill>
                  <a:srgbClr val="EE9B8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3543744" y="2751746"/>
            <a:ext cx="2056513" cy="10502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Using the transform method on the test set; avoiding information leakage or statistical bias from the test set leaking into the training process.</a:t>
            </a:r>
            <a:endParaRPr sz="1100"/>
          </a:p>
        </p:txBody>
      </p:sp>
      <p:sp>
        <p:nvSpPr>
          <p:cNvPr id="243" name="Google Shape;243;p29"/>
          <p:cNvSpPr txBox="1"/>
          <p:nvPr/>
        </p:nvSpPr>
        <p:spPr>
          <a:xfrm>
            <a:off x="3544934" y="2276337"/>
            <a:ext cx="249077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Ensuring No Data Leakage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6523903" y="1500846"/>
            <a:ext cx="56650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>
                <a:solidFill>
                  <a:srgbClr val="4FA5C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6477067" y="2751746"/>
            <a:ext cx="2056513" cy="8829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Clean, entirely numerical data, expanded from 16 features to over 40; data is now ready for model building and evaluation.</a:t>
            </a:r>
            <a:endParaRPr sz="1100"/>
          </a:p>
        </p:txBody>
      </p:sp>
      <p:sp>
        <p:nvSpPr>
          <p:cNvPr id="246" name="Google Shape;246;p29"/>
          <p:cNvSpPr txBox="1"/>
          <p:nvPr/>
        </p:nvSpPr>
        <p:spPr>
          <a:xfrm>
            <a:off x="6478257" y="2276337"/>
            <a:ext cx="2055322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Results of Preprocessing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51" name="Google Shape;251;p30"/>
          <p:cNvPicPr preferRelativeResize="0"/>
          <p:nvPr/>
        </p:nvPicPr>
        <p:blipFill rotWithShape="1">
          <a:blip r:embed="rId3">
            <a:alphaModFix amt="60000"/>
          </a:blip>
          <a:srcRect b="18137" l="0" r="0" t="25613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/>
        </p:nvSpPr>
        <p:spPr>
          <a:xfrm>
            <a:off x="495300" y="96440"/>
            <a:ext cx="8143875" cy="6750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 Initial Model Training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554625" y="919300"/>
            <a:ext cx="78861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Initial Model Results</a:t>
            </a:r>
            <a:r>
              <a:rPr lang="en" sz="1500">
                <a:solidFill>
                  <a:schemeClr val="lt1"/>
                </a:solidFill>
              </a:rPr>
              <a:t> - The</a:t>
            </a:r>
            <a:r>
              <a:rPr lang="en" sz="1500">
                <a:solidFill>
                  <a:schemeClr val="lt1"/>
                </a:solidFill>
              </a:rPr>
              <a:t> Challenge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607800" y="1584125"/>
            <a:ext cx="76203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Trained 7 baseline models (Logistic Regression, k-NN, SVM, Naive Bayes, Decision Tree, random forest, and AdaBoost)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Dataset: 4,024 samples, 13 features (34 after one-hot encoding)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Performance Summary: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Accuracy: 77-85% (high)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Recall (Dead class): Only 11-15% (very low)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Problem identified: Class Imbalance</a:t>
            </a:r>
            <a:endParaRPr sz="1500">
              <a:solidFill>
                <a:schemeClr val="lt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</a:pPr>
            <a:r>
              <a:rPr lang="en" sz="1500">
                <a:solidFill>
                  <a:schemeClr val="lt1"/>
                </a:solidFill>
              </a:rPr>
              <a:t>Alive: ~84% vs Dead: ~16% (5.5:1 ratio)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607800" y="4102650"/>
            <a:ext cx="7794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Key insight: High accuracy is misleading—models predict everyone as "Alive" to get 85% accuracy, which is useless for identifying at-risk patients.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60" name="Google Shape;260;p31"/>
          <p:cNvPicPr preferRelativeResize="0"/>
          <p:nvPr/>
        </p:nvPicPr>
        <p:blipFill rotWithShape="1">
          <a:blip r:embed="rId3">
            <a:alphaModFix amt="60000"/>
          </a:blip>
          <a:srcRect b="18140" l="0" r="0" t="25610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/>
          <p:nvPr/>
        </p:nvSpPr>
        <p:spPr>
          <a:xfrm>
            <a:off x="495300" y="96440"/>
            <a:ext cx="814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Improvement Strategy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569825" y="1196650"/>
            <a:ext cx="78633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Three Experiments: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Baseline Models: 4 key models (Logistic Regression, Random Forest, AdaBoost, SVM)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Purpose: Establish baseline for comparison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Hyperparameter Tuning (Random Forest):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GridSearchCV with 3-fold cross-validation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Tuned: n_estimators, max_depth, min_samples_leaf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Key: Added class_weight='balanced' to address imbalance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Stacking Classifier: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Ensemble: Tuned RF + AdaBoost + Balanced SVM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</a:rPr>
              <a:t>Meta-learner: Logistic Regression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67" name="Google Shape;267;p32"/>
          <p:cNvPicPr preferRelativeResize="0"/>
          <p:nvPr/>
        </p:nvPicPr>
        <p:blipFill rotWithShape="1">
          <a:blip r:embed="rId3">
            <a:alphaModFix amt="60000"/>
          </a:blip>
          <a:srcRect b="18140" l="0" r="0" t="25610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2"/>
          <p:cNvSpPr txBox="1"/>
          <p:nvPr/>
        </p:nvSpPr>
        <p:spPr>
          <a:xfrm>
            <a:off x="495300" y="96440"/>
            <a:ext cx="814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Results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aphicFrame>
        <p:nvGraphicFramePr>
          <p:cNvPr id="269" name="Google Shape;269;p32"/>
          <p:cNvGraphicFramePr/>
          <p:nvPr/>
        </p:nvGraphicFramePr>
        <p:xfrm>
          <a:off x="603000" y="94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{F9E17CFA-CFA4-48FA-8A8B-D749505838F3}</a:tableStyleId>
              </a:tblPr>
              <a:tblGrid>
                <a:gridCol w="1598250"/>
                <a:gridCol w="1598250"/>
                <a:gridCol w="1598250"/>
                <a:gridCol w="1598250"/>
                <a:gridCol w="1598250"/>
              </a:tblGrid>
              <a:tr h="66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Microsoft Yahei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Model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Accuracy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Recall (Dead)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F1-Score (Dead)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ROC-AUC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91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Random Forest (Tuned)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b="1" sz="1500">
                        <a:solidFill>
                          <a:schemeClr val="lt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79.01%	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44.72%	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39.43%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0.7262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Random Forest (Baseline)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84.47%	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14.63%	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22.36%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0.6860</a:t>
                      </a:r>
                      <a:endParaRPr b="1" sz="1500">
                        <a:solidFill>
                          <a:schemeClr val="lt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Logistic Regression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85.34%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13.01%	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21.33%	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0.7345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AdaBoost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85.34%	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11.38%	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19.18%	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0.7356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SVM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85.47%	</a:t>
                      </a:r>
                      <a:endParaRPr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10.57%</a:t>
                      </a:r>
                      <a:endParaRPr b="1" sz="1500">
                        <a:solidFill>
                          <a:schemeClr val="lt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18.18%	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0.6700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74" name="Google Shape;274;p33"/>
          <p:cNvPicPr preferRelativeResize="0"/>
          <p:nvPr/>
        </p:nvPicPr>
        <p:blipFill rotWithShape="1">
          <a:blip r:embed="rId3">
            <a:alphaModFix amt="60000"/>
          </a:blip>
          <a:srcRect b="18140" l="0" r="0" t="25610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/>
        </p:nvSpPr>
        <p:spPr>
          <a:xfrm>
            <a:off x="495300" y="96440"/>
            <a:ext cx="814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Results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4642075" y="896500"/>
            <a:ext cx="4239300" cy="38670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Key Improvement: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Baseline RF Recall: 14.63% → Tuned RF Recall: 44.72%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3.06x improvement in identifying at-risk patients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Trade-off: Accuracy slightly lower (79% vs 85%), but this prioritizes catching deaths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Best Hyperparameters Found: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n_estimators: 100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max_depth: 10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min_samples_leaf: 4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class_weight: 'balanced' ← Critical for handling class imbalance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Visual recommendations: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Bar chart comparing Recall across models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Confusion matrix for Tuned Random Forest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Highlight the 3x improvement visually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277" name="Google Shape;2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398" y="1246000"/>
            <a:ext cx="4127724" cy="3403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82" name="Google Shape;282;p34"/>
          <p:cNvPicPr preferRelativeResize="0"/>
          <p:nvPr/>
        </p:nvPicPr>
        <p:blipFill rotWithShape="1">
          <a:blip r:embed="rId3">
            <a:alphaModFix amt="60000"/>
          </a:blip>
          <a:srcRect b="18140" l="0" r="0" t="25610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495300" y="96440"/>
            <a:ext cx="814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Key Learnings &amp; Next Steps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721750" y="1208000"/>
            <a:ext cx="7637700" cy="27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Key Takeaways: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Class imbalance is a critical challenge in medical datasets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Hyperparameter tuning with class balancing dramatically improves recall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Feature preprocessing (one-hot encoding) was essential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Tuned Random Forest provides solid foundation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Future Plans: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Advanced imbalance handling: SMOTE, ADASYN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Model refinement: XGBoost, LightGBM, advanced ensembles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Better evaluation: Precision-Recall AUC, cost-sensitive metrics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Model interpretability: SHAP values, feature importance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Goal: Achieve Recall &gt; 50% for minority class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genetic concept" id="289" name="Google Shape;289;p35"/>
          <p:cNvPicPr preferRelativeResize="0"/>
          <p:nvPr/>
        </p:nvPicPr>
        <p:blipFill rotWithShape="1">
          <a:blip r:embed="rId3">
            <a:alphaModFix amt="60000"/>
          </a:blip>
          <a:srcRect b="18140" l="0" r="0" t="25610"/>
          <a:stretch/>
        </p:blipFill>
        <p:spPr>
          <a:xfrm>
            <a:off x="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495300" y="293990"/>
            <a:ext cx="814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icrosoft Yahei"/>
              <a:buNone/>
            </a:pPr>
            <a:r>
              <a:rPr b="1" lang="en" sz="2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Conclusion</a:t>
            </a:r>
            <a:endParaRPr b="1" sz="2100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541500" y="1325700"/>
            <a:ext cx="8061000" cy="24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Summary: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Proper preprocessing + class balancing + hyperparameter tuning = significantly improved model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Recall improved from 15% to 44.7% (3x improvement)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Foundation set for further improvements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Next Steps: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Continue model refinement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Focus on interpretability for clinical use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</a:rPr>
              <a:t>Target: Recall &gt; 50% in final deliverable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